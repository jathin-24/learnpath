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AI-POWERED PERSONALIZED LEARNING PATH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LearnPath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"Tell us your goal. We'll find your gaps and build the path — not someone else's."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Solution Documentation  •  HCLTech AMPLIFIED Round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Team submission — LearnPath  •  github.com/Jathin-24/LearnPath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One-size-fits-all: </a:t>
            </a:r>
            <a:r>
              <a:rPr sz="1700">
                <a:solidFill>
                  <a:srgbClr val="CBD5E1"/>
                </a:solidFill>
                <a:latin typeface="Calibri"/>
              </a:rPr>
              <a:t>online platforms recommend courses, not learning journeys.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Sequencing is missing: </a:t>
            </a:r>
            <a:r>
              <a:rPr sz="1700">
                <a:solidFill>
                  <a:srgbClr val="CBD5E1"/>
                </a:solidFill>
                <a:latin typeface="Calibri"/>
              </a:rPr>
              <a:t>learners can't find the right order of resources to reach a specific goal.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Different learners, different needs: </a:t>
            </a:r>
            <a:r>
              <a:rPr sz="1700">
                <a:solidFill>
                  <a:srgbClr val="CBD5E1"/>
                </a:solidFill>
                <a:latin typeface="Calibri"/>
              </a:rPr>
              <a:t>skill level, experience, interests and goals all differ.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Wasted effort: </a:t>
            </a:r>
            <a:r>
              <a:rPr sz="1700">
                <a:solidFill>
                  <a:srgbClr val="CBD5E1"/>
                </a:solidFill>
                <a:latin typeface="Calibri"/>
              </a:rPr>
              <a:t>hours spent on concepts already known; critical prerequisites missed.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554480"/>
            <a:ext cx="4937760" cy="411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373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4389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libri"/>
              </a:rPr>
              <a:t>How do we understand a learner's profile, analyze their goal, identify skill gaps, and generate a structured roadmap of courses, projects and assessments tailored to the individual — that adapts as they learn?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An adaptive learning operating system: convert a career goal + existing knowledge into a sequential learning journey, verify knowledge, generate projects &amp; quizzes, retrieve resources, track progress, and regenerate the roadmap as the learner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789920" cy="3017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The closed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•  Discover &amp; Profile — conversational intake, resume/context import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•  Diagnose — structured checklist + adaptive, deterministically-graded quiz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•  Plan — personalized roadmap: prerequisites before dependents, grounded in an 80-course dataset or live web/YouTube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•  Learn — sequential unlocking: sub-concept quizzes, final quiz, project, tutor, notes, resources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•  Adapt — progress + feedback visibly regenerate the next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Two-Path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alibri"/>
              </a:rPr>
              <a:t>Two complementary recommendation paths combine dataset grounding with live web expertise. Both can blend within a single roadmap.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5303520" cy="3840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303520" cy="38404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Calibri"/>
              </a:rPr>
              <a:t>PATH A —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231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  <a:latin typeface="Calibri"/>
              </a:rPr>
              <a:t>PATH B — Open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Source: </a:t>
            </a:r>
            <a:r>
              <a:rPr sz="1250">
                <a:solidFill>
                  <a:srgbClr val="CBD5E1"/>
                </a:solidFill>
                <a:latin typeface="Calibri"/>
              </a:rPr>
              <a:t>static, enriched 80-course / 109,776-review catalog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Candidates: </a:t>
            </a:r>
            <a:r>
              <a:rPr sz="1250">
                <a:solidFill>
                  <a:srgbClr val="CBD5E1"/>
                </a:solidFill>
                <a:latin typeface="Calibri"/>
              </a:rPr>
              <a:t>TF-IDF + FAISS nearest-neighbour (k=15)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Selection: </a:t>
            </a:r>
            <a:r>
              <a:rPr sz="1250">
                <a:solidFill>
                  <a:srgbClr val="CBD5E1"/>
                </a:solidFill>
                <a:latin typeface="Calibri"/>
              </a:rPr>
              <a:t>LLM picks semantic fit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Ordering: </a:t>
            </a:r>
            <a:r>
              <a:rPr sz="1250">
                <a:solidFill>
                  <a:srgbClr val="CBD5E1"/>
                </a:solidFill>
                <a:latin typeface="Calibri"/>
              </a:rPr>
              <a:t>prerequisite graph + topological sort (Kahn)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Grounding: </a:t>
            </a:r>
            <a:r>
              <a:rPr sz="1250">
                <a:solidFill>
                  <a:srgbClr val="CBD5E1"/>
                </a:solidFill>
                <a:latin typeface="Calibri"/>
              </a:rPr>
              <a:t>name, summary, concepts, difficulty, review_count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Footprint: </a:t>
            </a:r>
            <a:r>
              <a:rPr sz="1250">
                <a:solidFill>
                  <a:srgbClr val="CBD5E1"/>
                </a:solidFill>
                <a:latin typeface="Calibri"/>
              </a:rPr>
              <a:t>free, offline, memory-friendly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Source: </a:t>
            </a:r>
            <a:r>
              <a:rPr sz="1250">
                <a:solidFill>
                  <a:srgbClr val="CBD5E1"/>
                </a:solidFill>
                <a:latin typeface="Calibri"/>
              </a:rPr>
              <a:t>live Tavily web + YouTube search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Candidates: </a:t>
            </a:r>
            <a:r>
              <a:rPr sz="1250">
                <a:solidFill>
                  <a:srgbClr val="CBD5E1"/>
                </a:solidFill>
                <a:latin typeface="Calibri"/>
              </a:rPr>
              <a:t>top-4 web + top-3 YouTube results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Selection: </a:t>
            </a:r>
            <a:r>
              <a:rPr sz="1250">
                <a:solidFill>
                  <a:srgbClr val="CBD5E1"/>
                </a:solidFill>
                <a:latin typeface="Calibri"/>
              </a:rPr>
              <a:t>LLM plans 3–6 topics + synthesizes notes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Ordering: </a:t>
            </a:r>
            <a:r>
              <a:rPr sz="1250">
                <a:solidFill>
                  <a:srgbClr val="CBD5E1"/>
                </a:solidFill>
                <a:latin typeface="Calibri"/>
              </a:rPr>
              <a:t>sequential chain (each prereqs the prior)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Grounding: </a:t>
            </a:r>
            <a:r>
              <a:rPr sz="1250">
                <a:solidFill>
                  <a:srgbClr val="CBD5E1"/>
                </a:solidFill>
                <a:latin typeface="Calibri"/>
              </a:rPr>
              <a:t>real URLs + relevance score + freshness + reason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Footprint: </a:t>
            </a:r>
            <a:r>
              <a:rPr sz="1250">
                <a:solidFill>
                  <a:srgbClr val="CBD5E1"/>
                </a:solidFill>
                <a:latin typeface="Calibri"/>
              </a:rPr>
              <a:t>requires TAVILY_API_KEY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TWO-PATH MODEL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Routing &amp; Confidence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789920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Consolas"/>
              </a:rPr>
              <a:t>SEED_K = 15            # top-N FAISS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Consolas"/>
              </a:rPr>
              <a:t>MIN_SIMILARITY = 0.35  # cosine-sim floor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8BDF8"/>
                </a:solidFill>
                <a:latin typeface="Consolas"/>
              </a:rPr>
              <a:t>TEMPLATE_THRESH = 0.85 # cached-roadmap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Decision logic inside run_path_a()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Query build: </a:t>
            </a:r>
            <a:r>
              <a:rPr sz="1400">
                <a:solidFill>
                  <a:srgbClr val="CBD5E1"/>
                </a:solidFill>
                <a:latin typeface="Calibri"/>
              </a:rPr>
              <a:t>goal + all skill-gap records, joined with ". " (fallback: general programming fundamentals).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Template cache: </a:t>
            </a:r>
            <a:r>
              <a:rPr sz="1400">
                <a:solidFill>
                  <a:srgbClr val="CBD5E1"/>
                </a:solidFill>
                <a:latin typeface="Calibri"/>
              </a:rPr>
              <a:t>reuse a prior very-similar roadmap (cosine ≥ 0.85), skipping all retrieval/LLM work.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Retrieve + filter: </a:t>
            </a:r>
            <a:r>
              <a:rPr sz="1400">
                <a:solidFill>
                  <a:srgbClr val="CBD5E1"/>
                </a:solidFill>
                <a:latin typeface="Calibri"/>
              </a:rPr>
              <a:t>15 candidates; only those ≥ 0.35 survive.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Whole-goal fallback: </a:t>
            </a:r>
            <a:r>
              <a:rPr sz="1400">
                <a:solidFill>
                  <a:srgbClr val="CBD5E1"/>
                </a:solidFill>
                <a:latin typeface="Calibri"/>
              </a:rPr>
              <a:t>if ZERO pass 0.35 → log dataset_match_too_weak → entire roadmap becomes Path B.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External-concept promotion: </a:t>
            </a:r>
            <a:r>
              <a:rPr sz="1400">
                <a:solidFill>
                  <a:srgbClr val="CBD5E1"/>
                </a:solidFill>
                <a:latin typeface="Calibri"/>
              </a:rPr>
              <a:t>out-of-catalog prerequisites of selected courses become Path-B stub nodes wired into the same roadmap.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Evidence-based threshold: live "backend developer" test showed real matches at 0.36–0.59 vs noise (Android, React Native, Ethical Hacking) at 0.28–0.32 — so the LLM refines selection on top of vector math.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Path A — Dataset-Grounded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RAG retrieval + LLM planning + prerequisite traversal → dataset-grounded nodes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078992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alibri"/>
              </a:rPr>
              <a:t>1. 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103120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TF-IDF embed the goal+gap query; search FAISS flat inner-product (L2-normalized ⇒ cosine); k=15, then drop &lt; 0.35.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90672"/>
            <a:ext cx="1078992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alibri"/>
              </a:rPr>
              <a:t>2. Semantic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182112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LLM gets each candidate (name, difficulty, concepts[:8], summary) + profile; "never pad the list"; validated against RoadmapPlanOutput; retry once, then fail loud.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69664"/>
            <a:ext cx="1078992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61104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alibri"/>
              </a:rPr>
              <a:t>3. Traverse prerequisites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261104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Iterative stack closure over internal_prerequisites; Kahn's topological sort guarantees order; cycles raise a clear ValueError.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48656"/>
            <a:ext cx="1078992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0096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Calibri"/>
              </a:rPr>
              <a:t>4. Node build + promote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340096"/>
            <a:ext cx="7589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Each node: slugified id, course_name/summary/search_link, concepts[:5], difficulty. External concepts become Path-B stub nodes placed first &amp; wired as prereqs.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Path B — Open-Web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Tavily web/YouTube search + LLM synthesis → open-web nodes, external fills, refreshes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Search: </a:t>
            </a:r>
            <a:r>
              <a:rPr sz="1350">
                <a:solidFill>
                  <a:srgbClr val="CBD5E1"/>
                </a:solidFill>
                <a:latin typeface="Calibri"/>
              </a:rPr>
              <a:t>"{topic} tutorial guide" → top-4 web; "{topic} tutorial" → top-3 YouTube (youtube.com/youtu.be only).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Synthesis: </a:t>
            </a:r>
            <a:r>
              <a:rPr sz="1350">
                <a:solidFill>
                  <a:srgbClr val="CBD5E1"/>
                </a:solidFill>
                <a:latin typeface="Calibri"/>
              </a:rPr>
              <a:t>each result's first 800 chars → LLM (max_tokens=700) → 200–400 word prose study guide; degrades if empty.</a:t>
            </a:r>
          </a:p>
          <a:p>
            <a:pPr>
              <a:spcAft>
                <a:spcPts val="9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Provenance: </a:t>
            </a:r>
            <a:r>
              <a:rPr sz="1350">
                <a:solidFill>
                  <a:srgbClr val="CBD5E1"/>
                </a:solidFill>
                <a:latin typeface="Calibri"/>
              </a:rPr>
              <a:t>source_type, 220-char snippet, Tavily score, published date, auto-generated reason ("Top result… relevance 93%").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Three fill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0604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_fill_resources_only: </a:t>
            </a:r>
            <a:r>
              <a:rPr sz="1300">
                <a:solidFill>
                  <a:srgbClr val="CBD5E1"/>
                </a:solidFill>
                <a:latin typeface="Calibri"/>
              </a:rPr>
              <a:t>new stub → search + notes, defer project/quiz.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_supplement_node: </a:t>
            </a:r>
            <a:r>
              <a:rPr sz="1300">
                <a:solidFill>
                  <a:srgbClr val="CBD5E1"/>
                </a:solidFill>
                <a:latin typeface="Calibri"/>
              </a:rPr>
              <a:t>"find more resources" → refresh notes/sources only, never quizzes.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_fill_node (force): </a:t>
            </a:r>
            <a:r>
              <a:rPr sz="1300">
                <a:solidFill>
                  <a:srgbClr val="CBD5E1"/>
                </a:solidFill>
                <a:latin typeface="Calibri"/>
              </a:rPr>
              <a:t>regenerate → resources AND project/quiz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Standalone mode: for goals with no dataset coverage → search "{goal} roadmap topics to learn in order" → 3–6 sequential topics chained, filled per-node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Dataset &amp;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Raw: 109,776 reviews / 80 courses, no metadata. Metadata was engineered in a one-time LLM pass.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0789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Raw reviews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30552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course_reviews.csv — Index, Reviews, Course. No metadata.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16936"/>
            <a:ext cx="10789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008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Enrich one call/course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90088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sample ≤10 reviews/course → concepts (5–12), difficulty, strengths, weaknesses, summary (+ search_link, review_count).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76472"/>
            <a:ext cx="10789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49624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Prerequisite 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49624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one LLM call over the whole list → course → prerequisites, guided by concept overlap &amp; difficulty (0–2 each).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36008"/>
            <a:ext cx="10789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Internal vs External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709160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split_prerequisites.py: internal = in-catalog; external = out-of-catalog concepts (fed to Path A promotion).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95544"/>
            <a:ext cx="10789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68696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Validated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568696"/>
            <a:ext cx="7040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enriched_courses.json — 0 parse errors, 0 dangling edges.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Dataset — Verified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29000" cy="1737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Calibri"/>
              </a:rPr>
              <a:t>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COURSES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3429000" cy="1737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Calibri"/>
              </a:rPr>
              <a:t>109,776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TOTAL REVIEWS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429000" cy="1737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Calibri"/>
              </a:rPr>
              <a:t>106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INTERNAL PREREQ EDGES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3429000" cy="1737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Calibr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EXTERNAL CONCEPTS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703320"/>
            <a:ext cx="3429000" cy="1737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97764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Calibri"/>
              </a:rPr>
              <a:t>56/18/6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89204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INT/BEGINNER/ADVANCED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703320"/>
            <a:ext cx="3429000" cy="17373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97764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Calibri"/>
              </a:rPr>
              <a:t>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89204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LLM CALLS, RUN ONCE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23560"/>
            <a:ext cx="10881360" cy="6400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Every prereq edge resolves to a real node earlier in the roadmap — verified by the Path-A assertion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 Sample Dataset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solidFill>
            <a:srgbClr val="020617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8BDF8"/>
                </a:solidFill>
                <a:latin typeface="Consolas"/>
              </a:rPr>
              <a:t>"React Native Mobile Development": {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"concepts": ["JSX components", "StyleSheet", "Flexbox layout", ...],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"difficulty": "intermediate",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"strengths": "Reviewers praise hands-on assignments...",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"weaknesses": "Desire for more complex projects...",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"summary": "A solid, value-for-money course...",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"search_link": "https://www.udemy.com/courses/search/?q=React+Native+Mobile+Development",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"review_count": 1402,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"internal_prerequisites": ["JavaScript Fundamentals", "React.js Development"],</a:t>
            </a:r>
          </a:p>
          <a:p>
            <a:r>
              <a:rPr sz="1300">
                <a:solidFill>
                  <a:srgbClr val="38BDF8"/>
                </a:solidFill>
                <a:latin typeface="Consolas"/>
              </a:rPr>
              <a:t>  "external_prerequisite_concepts": []</a:t>
            </a:r>
          </a:p>
          <a:p>
            <a:r>
              <a:rPr sz="13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This per-course metadata is what makes retrieval, semantic selection and prerequisite reasoning possible.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RAG Index &amp;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Index build: </a:t>
            </a:r>
            <a:r>
              <a:rPr sz="1400">
                <a:solidFill>
                  <a:srgbClr val="CBD5E1"/>
                </a:solidFill>
                <a:latin typeface="Calibri"/>
              </a:rPr>
              <a:t>embedding = "{name}. Difficulty: {diff}. Concepts: {concepts}. {summary}".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Vectorizer: </a:t>
            </a:r>
            <a:r>
              <a:rPr sz="1400">
                <a:solidFill>
                  <a:srgbClr val="CBD5E1"/>
                </a:solidFill>
                <a:latin typeface="Calibri"/>
              </a:rPr>
              <a:t>TfidfVectorizer(max_features=4096, sublinear_tf=True, norm="l2") — 4096 features.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Index: </a:t>
            </a:r>
            <a:r>
              <a:rPr sz="1400">
                <a:solidFill>
                  <a:srgbClr val="CBD5E1"/>
                </a:solidFill>
                <a:latin typeface="Calibri"/>
              </a:rPr>
              <a:t>faiss.IndexFlatIP on L2-normalized float32 vectors ⇒ inner product = cosine similarity.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Artifacts committed: </a:t>
            </a:r>
            <a:r>
              <a:rPr sz="1400">
                <a:solidFill>
                  <a:srgbClr val="CBD5E1"/>
                </a:solidFill>
                <a:latin typeface="Calibri"/>
              </a:rPr>
              <a:t>course_index.faiss, course_metadata.json (80 names), tfidf_vectorizer.pkl.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Calibri"/>
              </a:rPr>
              <a:t>Why TF-IDF, not sentence-transformers?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6634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Render free-tier memory: torch + sentence-transformers blew the 512MB budget. TF-IDF needs no model download and serves the same 80-course index comfortably. Accepted tradeoff: TF-IDF is lexical — so the hybrid planner lets the LLM do semantic selection on top of retrieval. No paid embedding API anywhere.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Orchestration: The 8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Profiler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27632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conversational intake → LearnerProfile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27632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checklist + adaptive MCQ → SkillGapMap, deterministic grading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78608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Path-A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51760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RAG + confidence filter + LLM planning + pruning graph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578608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Path-B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Tavily search + synthesis → web nodes &amp; external fills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02736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75888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Roadmap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75888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merges nodes, fills web, writes template cache, lazy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602736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75888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Knowledge Extractor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675888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resume/context → structured knowledge facts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26864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00016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Explainer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700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"why this topic?" grounded in profile + graph position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626864"/>
            <a:ext cx="530352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00016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Tutor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00016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in-topic Q&amp;A grounded in the current node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Build chain: PROFILER → ASSESSMENT → PATH_A → ROADMAP_GENERATOR → END (LangGraph StateGraph). All LLM output validated against the shared Pydantic schema.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Roadmap Flow: Generate → Review → Confirm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89920" cy="10241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37360"/>
            <a:ext cx="7406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Roadmap Generator splits dataset vs web nodes; fills every Path-B stub; writes a re-usable template skeleton to roadmap_templates; pauses at ROADMAP_REVIEW.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10789920" cy="10241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880360"/>
            <a:ext cx="7406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Learner reorders (locked nodes), skips, adds, edits, modifies (re-runs Path A/B with roadmap_instructions), or deletes — before committing.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89920" cy="10241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023360"/>
            <a:ext cx="7406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POST /roadmap/confirm → locks in; exactly ONE node AVAILABLE at a time in topological order; Path-B nodes without notes never unlock.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10789920" cy="102412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LAZY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166360"/>
            <a:ext cx="7406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Calibri"/>
              </a:rPr>
              <a:t>4–8 sub-concepts/node; 2-q sub-concept quiz on "Done Learning"; ONE combined call per node for Project + 3-q final quiz + estimated_days, fired when all subtopics pass.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LLM Client &amp;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Env config: </a:t>
            </a:r>
            <a:r>
              <a:rPr sz="1400">
                <a:solidFill>
                  <a:srgbClr val="CBD5E1"/>
                </a:solidFill>
                <a:latin typeface="Calibri"/>
              </a:rPr>
              <a:t>LLM_PROVIDERS / LLM_API_KEYS / LLM_MODELS — comma-joined, position-matched, equal length.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States: </a:t>
            </a:r>
            <a:r>
              <a:rPr sz="1400">
                <a:solidFill>
                  <a:srgbClr val="CBD5E1"/>
                </a:solidFill>
                <a:latin typeface="Calibri"/>
              </a:rPr>
              <a:t>HEALTHY, COOLING_DOWN (rate-limited, skipped until cooldown), DEAD (non-retryable, skipped for run).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Error classes: </a:t>
            </a:r>
            <a:r>
              <a:rPr sz="1400">
                <a:solidFill>
                  <a:srgbClr val="CBD5E1"/>
                </a:solidFill>
                <a:latin typeface="Calibri"/>
              </a:rPr>
              <a:t>429/quota → cool 60s; 401/403/bad key → DEAD; ≥500/timeout → transient, retry same endpoint 1.0·2^attempt ×2 then next.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Exhaustion: </a:t>
            </a:r>
            <a:r>
              <a:rPr sz="1400">
                <a:solidFill>
                  <a:srgbClr val="CBD5E1"/>
                </a:solidFill>
                <a:latin typeface="Calibri"/>
              </a:rPr>
              <a:t>AllEndpointsExhaustedError → API returns a friendly 502, never crashes.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xai → </a:t>
            </a:r>
            <a:r>
              <a:rPr sz="1400">
                <a:solidFill>
                  <a:srgbClr val="CBD5E1"/>
                </a:solidFill>
                <a:latin typeface="Calibri"/>
              </a:rPr>
              <a:t>https://api.x.ai/v1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groq → </a:t>
            </a:r>
            <a:r>
              <a:rPr sz="1400">
                <a:solidFill>
                  <a:srgbClr val="CBD5E1"/>
                </a:solidFill>
                <a:latin typeface="Calibri"/>
              </a:rPr>
              <a:t>https://api.groq.com/openai/v1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openrouter → </a:t>
            </a:r>
            <a:r>
              <a:rPr sz="1400">
                <a:solidFill>
                  <a:srgbClr val="CBD5E1"/>
                </a:solidFill>
                <a:latin typeface="Calibri"/>
              </a:rPr>
              <a:t>https://openrouter.ai/api/v1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anthropic → </a:t>
            </a:r>
            <a:r>
              <a:rPr sz="1400">
                <a:solidFill>
                  <a:srgbClr val="CBD5E1"/>
                </a:solidFill>
                <a:latin typeface="Calibri"/>
              </a:rPr>
              <a:t>native Anthropic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31920"/>
            <a:ext cx="4663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/health exposes key-redacting status: provider:model:…KEY_LAST4, state, cooldown remaining, consecutive failures.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Runtime flow:  React/Vite → FastAPI → LangGraph → RAG (FAISS + TF-IDF) → multi-provider LLM / Tavily →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alibri"/>
              </a:rPr>
              <a:t>React/Vite
(Frontend)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834640"/>
            <a:ext cx="256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7752" y="256032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74320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alibri"/>
              </a:rPr>
              <a:t>FastAPI
(Backend)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834640"/>
            <a:ext cx="256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5424" y="256032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74320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alibri"/>
              </a:rPr>
              <a:t>LangGraph
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834640"/>
            <a:ext cx="256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3096" y="256032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74320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alibri"/>
              </a:rPr>
              <a:t>RAG: TF-IDF + FAISS
(80-course index)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834640"/>
            <a:ext cx="256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0768" y="256032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274320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alibri"/>
              </a:rPr>
              <a:t>Multi-provider LLM
+ Tavily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2408" y="2834640"/>
            <a:ext cx="256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78440" y="2560320"/>
            <a:ext cx="16916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2743200"/>
            <a:ext cx="1691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2E8F0"/>
                </a:solidFill>
                <a:latin typeface="Calibri"/>
              </a:rPr>
              <a:t>PostgreSQL
(JSONB state)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Frontend: </a:t>
            </a:r>
            <a:r>
              <a:rPr sz="1400">
                <a:solidFill>
                  <a:srgbClr val="CBD5E1"/>
                </a:solidFill>
                <a:latin typeface="Calibri"/>
              </a:rPr>
              <a:t>React 19, TypeScript, Vite, Tailwind v4; React Flow (roadmap) + Recharts (analytics).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Backend: </a:t>
            </a:r>
            <a:r>
              <a:rPr sz="1400">
                <a:solidFill>
                  <a:srgbClr val="CBD5E1"/>
                </a:solidFill>
                <a:latin typeface="Calibri"/>
              </a:rPr>
              <a:t>Python 3.12, FastAPI, Pydantic v2, LangGraph; eight agents; PostgreSQL JSONB per session (no ORM).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 pipeline: </a:t>
            </a:r>
            <a:r>
              <a:rPr sz="1400">
                <a:solidFill>
                  <a:srgbClr val="CBD5E1"/>
                </a:solidFill>
                <a:latin typeface="Calibri"/>
              </a:rPr>
              <a:t>enrich_courses.py (one-time LLM pass) + split_prerequisites.py → validated enriched_courses.json (0 parse errors).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Security, Reliability &amp; Code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Authorization: </a:t>
            </a:r>
            <a:r>
              <a:rPr sz="1500">
                <a:solidFill>
                  <a:srgbClr val="CBD5E1"/>
                </a:solidFill>
                <a:latin typeface="Calibri"/>
              </a:rPr>
              <a:t>bcrypt password hashing; signed access tokens (ACCESS_TOKEN_SECRET) on signup/login; every session/resource query checks ownership — a session belonging to a user requires that user's token.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Follow-the-Guest: </a:t>
            </a:r>
            <a:r>
              <a:rPr sz="1500">
                <a:solidFill>
                  <a:srgbClr val="CBD5E1"/>
                </a:solidFill>
                <a:latin typeface="Calibri"/>
              </a:rPr>
              <a:t>the open guest path stays available without a token.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Deterministic grading: </a:t>
            </a:r>
            <a:r>
              <a:rPr sz="1500">
                <a:solidFill>
                  <a:srgbClr val="CBD5E1"/>
                </a:solidFill>
                <a:latin typeface="Calibri"/>
              </a:rPr>
              <a:t>shared grading module used everywhere — no hallucinated pass/fail.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Append-only progress log: </a:t>
            </a:r>
            <a:r>
              <a:rPr sz="1500">
                <a:solidFill>
                  <a:srgbClr val="CBD5E1"/>
                </a:solidFill>
                <a:latin typeface="Calibri"/>
              </a:rPr>
              <a:t>doubles as dashboard data and a debugging trail.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Testing: </a:t>
            </a:r>
            <a:r>
              <a:rPr sz="1500">
                <a:solidFill>
                  <a:srgbClr val="CBD5E1"/>
                </a:solidFill>
                <a:latin typeface="Calibri"/>
              </a:rPr>
              <a:t>60+ backend tests against real Postgres and real LLM providers (no mocking); frontend type-checked (npx tsc --noEmit) and linted.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Single source of truth: </a:t>
            </a:r>
            <a:r>
              <a:rPr sz="1500">
                <a:solidFill>
                  <a:srgbClr val="CBD5E1"/>
                </a:solidFill>
                <a:latin typeface="Calibri"/>
              </a:rPr>
              <a:t>backend/orchestrator/state_schema.py mirrors frontend types one-for-one.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Local Setup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Prereqs: </a:t>
            </a:r>
            <a:r>
              <a:rPr sz="1500">
                <a:solidFill>
                  <a:srgbClr val="CBD5E1"/>
                </a:solidFill>
                <a:latin typeface="Calibri"/>
              </a:rPr>
              <a:t>Python 3.11+, Node 18+, PostgreSQL running locally (or a Supabase URL).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Backend: </a:t>
            </a:r>
            <a:r>
              <a:rPr sz="1500">
                <a:solidFill>
                  <a:srgbClr val="CBD5E1"/>
                </a:solidFill>
                <a:latin typeface="Calibri"/>
              </a:rPr>
              <a:t>python -m venv .venv &amp;&amp; activate; pip install -r requirements.txt.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Env: </a:t>
            </a:r>
            <a:r>
              <a:rPr sz="1500">
                <a:solidFill>
                  <a:srgbClr val="CBD5E1"/>
                </a:solidFill>
                <a:latin typeface="Calibri"/>
              </a:rPr>
              <a:t>copy .env.example → .env and fill LLM_PROVIDERS / LLM_API_KEYS / LLM_MODELS / DATABASE_URL / TAVILY_API_KEY.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DB: </a:t>
            </a:r>
            <a:r>
              <a:rPr sz="1500">
                <a:solidFill>
                  <a:srgbClr val="CBD5E1"/>
                </a:solidFill>
                <a:latin typeface="Calibri"/>
              </a:rPr>
              <a:t>create database learning_path_db (tables auto-create on first run).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Optional RAG rebuild: </a:t>
            </a:r>
            <a:r>
              <a:rPr sz="1500">
                <a:solidFill>
                  <a:srgbClr val="CBD5E1"/>
                </a:solidFill>
                <a:latin typeface="Calibri"/>
              </a:rPr>
              <a:t>python -m backend.rag.build_index (only if the dataset changes).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Frontend: </a:t>
            </a:r>
            <a:r>
              <a:rPr sz="1500">
                <a:solidFill>
                  <a:srgbClr val="CBD5E1"/>
                </a:solidFill>
                <a:latin typeface="Calibri"/>
              </a:rPr>
              <a:t>cd frontend &amp;&amp; npm install.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  <a:latin typeface="Calibri"/>
              </a:rPr>
              <a:t>RUN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Backend:  </a:t>
            </a:r>
            <a:r>
              <a:rPr sz="1500">
                <a:solidFill>
                  <a:srgbClr val="CBD5E1"/>
                </a:solidFill>
                <a:latin typeface="Calibri"/>
              </a:rPr>
              <a:t>uvicorn backend.api.main:app --port 8000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Health:  </a:t>
            </a:r>
            <a:r>
              <a:rPr sz="1500">
                <a:solidFill>
                  <a:srgbClr val="CBD5E1"/>
                </a:solidFill>
                <a:latin typeface="Calibri"/>
              </a:rPr>
              <a:t>http://127.0.0.1:8000/health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API docs:  </a:t>
            </a:r>
            <a:r>
              <a:rPr sz="1500">
                <a:solidFill>
                  <a:srgbClr val="CBD5E1"/>
                </a:solidFill>
                <a:latin typeface="Calibri"/>
              </a:rPr>
              <a:t>http://127.0.0.1:8000/docs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Frontend:  </a:t>
            </a:r>
            <a:r>
              <a:rPr sz="1500">
                <a:solidFill>
                  <a:srgbClr val="CBD5E1"/>
                </a:solidFill>
                <a:latin typeface="Calibri"/>
              </a:rPr>
              <a:t>npm run dev (from frontend/)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Open:  </a:t>
            </a:r>
            <a:r>
              <a:rPr sz="1500">
                <a:solidFill>
                  <a:srgbClr val="CBD5E1"/>
                </a:solidFill>
                <a:latin typeface="Calibri"/>
              </a:rPr>
              <a:t>http://localhost:5173, sign up, state a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846320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Windows note: don't use --reload (WatchFiles orphans the worker). Restart manually.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Testing, Verification &amp;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Backend tests: </a:t>
            </a:r>
            <a:r>
              <a:rPr sz="1500">
                <a:solidFill>
                  <a:srgbClr val="CBD5E1"/>
                </a:solidFill>
                <a:latin typeface="Calibri"/>
              </a:rPr>
              <a:t>pytest backend/tests/ -v — 60+ tests, real Postgres + real LLM, no mocking.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AI benchmark: </a:t>
            </a:r>
            <a:r>
              <a:rPr sz="1500">
                <a:solidFill>
                  <a:srgbClr val="CBD5E1"/>
                </a:solidFill>
                <a:latin typeface="Calibri"/>
              </a:rPr>
              <a:t>python -m backend.benchmarks.ai_benchmark — hybrid engine scored against a generic-LLM baseline and a RAG-only baseline over 30 learner profiles across 5 dimensions (relevance, ordering, personalization, feasibility, grounding); resumable after rate limits.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Frontend: </a:t>
            </a:r>
            <a:r>
              <a:rPr sz="1500">
                <a:solidFill>
                  <a:srgbClr val="CBD5E1"/>
                </a:solidFill>
                <a:latin typeface="Calibri"/>
              </a:rPr>
              <a:t>npm run lint (oxlint) and npx tsc --noEmit.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Reliability: </a:t>
            </a:r>
            <a:r>
              <a:rPr sz="1500">
                <a:solidFill>
                  <a:srgbClr val="CBD5E1"/>
                </a:solidFill>
                <a:latin typeface="Calibri"/>
              </a:rPr>
              <a:t>deterministic grading, append-only progress log, multi-key LLM failover, validated output, 0 dangling prereq edges.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Challenges Faced —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30352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No metadata in the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109,776 bare reviews. One-time enrichment: concepts, difficulty, strengths/weaknesses, prerequisite DAG — ~81 LLM calls, run once, 0 parse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0352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2763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Render 512MB free-tier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9339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torch + sentence-transformers blew the budget → TF-IDF + FAISS; index committed — no model download on the server.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30352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4495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Python 3.14 build crash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071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pydantic-core had no 3.14 wheel → Rust compile failed → pinned 3.12.11 (.python-version + PYTHON_VERSION env).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530352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4495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LLM flakiness &amp; rate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1071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priority multi-provider client — HEALTHY / COOLING_DOWN / DEAD states, 429 → 60s cooldown, backoff, auto-failover, friendly 502s.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530352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Lexical vs semantic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2803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TF-IDF is lexical; evidence-based 0.35 floor + whole-goal web fallback; the LLM does semantic selection on top of retrieval.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89120"/>
            <a:ext cx="5303520" cy="12801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6227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Deployment gotchas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28032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Calibri"/>
              </a:rPr>
              <a:t>a 500-on-upload regression and a stray CR in Vercel env breaking the API URL — both caught and fixed against the live deploy.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Takeaway: free-tier limits forced real tradeoffs — the system shipped lighter, cheaper and more robust for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Deployment &amp;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LearnPath — HCLTech AMPLIFIED Round 2  |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Deployment targets: </a:t>
            </a:r>
            <a:r>
              <a:rPr sz="1500">
                <a:solidFill>
                  <a:srgbClr val="CBD5E1"/>
                </a:solidFill>
                <a:latin typeface="Calibri"/>
              </a:rPr>
              <a:t>Supabase (Postgres) + Render (backend) + Vercel (frontend) — all free tier, no code changes.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Full step-by-step: </a:t>
            </a:r>
            <a:r>
              <a:rPr sz="1500">
                <a:solidFill>
                  <a:srgbClr val="CBD5E1"/>
                </a:solidFill>
                <a:latin typeface="Calibri"/>
              </a:rPr>
              <a:t>docs/deployment_guide.md (CORS via ALLOWED_ORIGINS, RAG index committed, resume stored in Postgres).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Documentation shipped: </a:t>
            </a:r>
            <a:r>
              <a:rPr sz="1500">
                <a:solidFill>
                  <a:srgbClr val="CBD5E1"/>
                </a:solidFill>
                <a:latin typeface="Calibri"/>
              </a:rPr>
              <a:t>api_contract, user_workflow, project_brief, final_decisions, frontend_developer_guide, deployment_guide, context_export_prompt.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Repo: </a:t>
            </a:r>
            <a:r>
              <a:rPr sz="1500">
                <a:solidFill>
                  <a:srgbClr val="CBD5E1"/>
                </a:solidFill>
                <a:latin typeface="Calibri"/>
              </a:rPr>
              <a:t>github.com/Jathin-24/LearnPath — 33 commits reflecting the development process.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This deck + PDF: </a:t>
            </a:r>
            <a:r>
              <a:rPr sz="1500">
                <a:solidFill>
                  <a:srgbClr val="CBD5E1"/>
                </a:solidFill>
                <a:latin typeface="Calibri"/>
              </a:rPr>
              <a:t>one-stop Path A/B + dataset + pipeline explanation for the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789920" cy="1188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0749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Calibri"/>
              </a:rPr>
              <a:t>"We don't recommend what to learn. We continuously decide what you should learn next."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